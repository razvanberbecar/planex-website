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A9E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672-4C26-BEC2-090684E4F7C6}"/>
              </c:ext>
            </c:extLst>
          </c:dPt>
          <c:dPt>
            <c:idx val="1"/>
            <c:bubble3D val="0"/>
            <c:spPr>
              <a:solidFill>
                <a:srgbClr val="4A67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72-4C26-BEC2-090684E4F7C6}"/>
              </c:ext>
            </c:extLst>
          </c:dPt>
          <c:dPt>
            <c:idx val="2"/>
            <c:bubble3D val="0"/>
            <c:spPr>
              <a:solidFill>
                <a:srgbClr val="5B4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72-4C26-BEC2-090684E4F7C6}"/>
              </c:ext>
            </c:extLst>
          </c:dPt>
          <c:dPt>
            <c:idx val="3"/>
            <c:bubble3D val="0"/>
            <c:spPr>
              <a:solidFill>
                <a:srgbClr val="2B6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672-4C26-BEC2-090684E4F7C6}"/>
              </c:ext>
            </c:extLst>
          </c:dPt>
          <c:dPt>
            <c:idx val="4"/>
            <c:bubble3D val="0"/>
            <c:spPr>
              <a:solidFill>
                <a:srgbClr val="7442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672-4C26-BEC2-090684E4F7C6}"/>
              </c:ext>
            </c:extLst>
          </c:dPt>
          <c:dPt>
            <c:idx val="5"/>
            <c:bubble3D val="0"/>
            <c:spPr>
              <a:solidFill>
                <a:srgbClr val="1A6B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672-4C26-BEC2-090684E4F7C6}"/>
              </c:ext>
            </c:extLst>
          </c:dPt>
          <c:dPt>
            <c:idx val="6"/>
            <c:bubble3D val="0"/>
            <c:spPr>
              <a:solidFill>
                <a:srgbClr val="B755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672-4C26-BEC2-090684E4F7C6}"/>
              </c:ext>
            </c:extLst>
          </c:dPt>
          <c:dPt>
            <c:idx val="7"/>
            <c:bubble3D val="0"/>
            <c:spPr>
              <a:solidFill>
                <a:srgbClr val="6B4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672-4C26-BEC2-090684E4F7C6}"/>
              </c:ext>
            </c:extLst>
          </c:dPt>
          <c:cat>
            <c:strRef>
              <c:f>Sheet1!$A$2:$A$9</c:f>
              <c:strCache>
                <c:ptCount val="8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672-4C26-BEC2-090684E4F7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1A202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202C"/>
    </a:solidFill>
    <a:ln w="12700" cap="flat">
      <a:solidFill>
        <a:srgbClr val="1A202C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7333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ex-website.onrender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572000" cy="4572000"/>
          </a:xfrm>
          <a:prstGeom prst="ellipse">
            <a:avLst/>
          </a:prstGeom>
          <a:solidFill>
            <a:srgbClr val="8A9E6E">
              <a:alpha val="32000"/>
            </a:srgbClr>
          </a:solidFill>
          <a:ln w="12700">
            <a:solidFill>
              <a:srgbClr val="8A9E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7132320" y="2651760"/>
            <a:ext cx="2560320" cy="2560320"/>
          </a:xfrm>
          <a:prstGeom prst="ellipse">
            <a:avLst/>
          </a:prstGeom>
          <a:solidFill>
            <a:srgbClr val="4A6741">
              <a:alpha val="38000"/>
            </a:srgbClr>
          </a:solidFill>
          <a:ln w="12700">
            <a:solidFill>
              <a:srgbClr val="4A674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64008" cy="1463040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Planex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13232" y="28803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collaborative task manager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44074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Razvan Berbecar  ·  SDI University Project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kills team productivity?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2578608" cy="35204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2578608" cy="54864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667512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67512" y="18288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sync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7512" y="2395728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refresh the page to see what changed.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collaboration.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archaeology.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82696" y="1024128"/>
            <a:ext cx="2578608" cy="35204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Shape 7"/>
          <p:cNvSpPr/>
          <p:nvPr/>
        </p:nvSpPr>
        <p:spPr>
          <a:xfrm>
            <a:off x="3282696" y="1024128"/>
            <a:ext cx="2578608" cy="54864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3447288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47288" y="18288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paralysis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47288" y="2395728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open tasks.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idea which one matters.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Paralysis disguised as planning.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62472" y="1024128"/>
            <a:ext cx="2578608" cy="35204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4" name="Shape 12"/>
          <p:cNvSpPr/>
          <p:nvPr/>
        </p:nvSpPr>
        <p:spPr>
          <a:xfrm>
            <a:off x="6062472" y="1024128"/>
            <a:ext cx="2578608" cy="54864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6227064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27064" y="1828800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27064" y="2395728"/>
            <a:ext cx="23042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changed that?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deleted this?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trail. No answer.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— Everything is Live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920240" cy="1005840"/>
          </a:xfrm>
          <a:prstGeom prst="rect">
            <a:avLst/>
          </a:prstGeom>
          <a:solidFill>
            <a:srgbClr val="8A9E6E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11880" y="1143000"/>
            <a:ext cx="1920240" cy="1005840"/>
          </a:xfrm>
          <a:prstGeom prst="rect">
            <a:avLst/>
          </a:prstGeom>
          <a:solidFill>
            <a:srgbClr val="4A6741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6" name="Text 4"/>
          <p:cNvSpPr/>
          <p:nvPr/>
        </p:nvSpPr>
        <p:spPr>
          <a:xfrm>
            <a:off x="3611880" y="1143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720840" y="1143000"/>
            <a:ext cx="1920240" cy="1005840"/>
          </a:xfrm>
          <a:prstGeom prst="rect">
            <a:avLst/>
          </a:prstGeom>
          <a:solidFill>
            <a:srgbClr val="8A9E6E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8" name="Text 6"/>
          <p:cNvSpPr/>
          <p:nvPr/>
        </p:nvSpPr>
        <p:spPr>
          <a:xfrm>
            <a:off x="6720840" y="1143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Connected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768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/ updates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deletes a task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66160" y="22768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event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to all sockets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675120" y="22768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updates instantly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polling, no refresh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23160" y="1645920"/>
            <a:ext cx="1188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3" name="Shape 11"/>
          <p:cNvSpPr/>
          <p:nvPr/>
        </p:nvSpPr>
        <p:spPr>
          <a:xfrm>
            <a:off x="5532120" y="1645920"/>
            <a:ext cx="118872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4" name="Shape 12"/>
          <p:cNvSpPr/>
          <p:nvPr/>
        </p:nvSpPr>
        <p:spPr>
          <a:xfrm>
            <a:off x="502920" y="2807208"/>
            <a:ext cx="1920240" cy="5486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502920" y="2807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task:created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task:updated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task:deleted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11880" y="2807208"/>
            <a:ext cx="1920240" cy="5486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3611880" y="2807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subtask:created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subtask:updated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subtask:deleted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20840" y="2807208"/>
            <a:ext cx="1920240" cy="54864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9" name="Text 17"/>
          <p:cNvSpPr/>
          <p:nvPr/>
        </p:nvSpPr>
        <p:spPr>
          <a:xfrm>
            <a:off x="6720840" y="2807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chat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auth token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36301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view — List, Kanban, Calendar, SubtaskPanel — updates in real time with zero polling.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379976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 ·  broadcastTaskEvent()  ·  window.CustomEvent  ·  deduplication guard on race conditions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That Actually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FLOW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36576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630936" y="987552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" y="1280160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331720" y="1609344"/>
            <a:ext cx="0" cy="82296"/>
          </a:xfrm>
          <a:prstGeom prst="line">
            <a:avLst/>
          </a:prstGeom>
          <a:noFill/>
          <a:ln w="1905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36576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Text 7"/>
          <p:cNvSpPr/>
          <p:nvPr/>
        </p:nvSpPr>
        <p:spPr>
          <a:xfrm>
            <a:off x="630936" y="1746504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issued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" y="2039112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15-min access + 7-day refresh → httpOnly cookie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31720" y="2368296"/>
            <a:ext cx="0" cy="82296"/>
          </a:xfrm>
          <a:prstGeom prst="line">
            <a:avLst/>
          </a:prstGeom>
          <a:noFill/>
          <a:ln w="1905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2" name="Shape 10"/>
          <p:cNvSpPr/>
          <p:nvPr/>
        </p:nvSpPr>
        <p:spPr>
          <a:xfrm>
            <a:off x="502920" y="2450592"/>
            <a:ext cx="3657600" cy="676656"/>
          </a:xfrm>
          <a:prstGeom prst="rect">
            <a:avLst/>
          </a:prstGeom>
          <a:solidFill>
            <a:srgbClr val="4A6741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3" name="Text 11"/>
          <p:cNvSpPr/>
          <p:nvPr/>
        </p:nvSpPr>
        <p:spPr>
          <a:xfrm>
            <a:off x="630936" y="2505456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TOKEN_EXPIRED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" y="2798064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9E7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{ code } tells frontend what happened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331720" y="3127248"/>
            <a:ext cx="0" cy="82296"/>
          </a:xfrm>
          <a:prstGeom prst="line">
            <a:avLst/>
          </a:prstGeom>
          <a:noFill/>
          <a:ln w="1905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16" name="Shape 14"/>
          <p:cNvSpPr/>
          <p:nvPr/>
        </p:nvSpPr>
        <p:spPr>
          <a:xfrm>
            <a:off x="502920" y="3209544"/>
            <a:ext cx="36576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7" name="Text 15"/>
          <p:cNvSpPr/>
          <p:nvPr/>
        </p:nvSpPr>
        <p:spPr>
          <a:xfrm>
            <a:off x="630936" y="3264408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Refresh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" y="3557016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/api/auth/refresh → new access token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331720" y="3886200"/>
            <a:ext cx="0" cy="82296"/>
          </a:xfrm>
          <a:prstGeom prst="line">
            <a:avLst/>
          </a:prstGeom>
          <a:noFill/>
          <a:ln w="19050">
            <a:solidFill>
              <a:srgbClr val="8A9E6E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sp>
        <p:nvSpPr>
          <p:cNvPr id="20" name="Shape 18"/>
          <p:cNvSpPr/>
          <p:nvPr/>
        </p:nvSpPr>
        <p:spPr>
          <a:xfrm>
            <a:off x="502920" y="3968496"/>
            <a:ext cx="36576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1" name="Text 19"/>
          <p:cNvSpPr/>
          <p:nvPr/>
        </p:nvSpPr>
        <p:spPr>
          <a:xfrm>
            <a:off x="630936" y="4023360"/>
            <a:ext cx="3456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recovery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" y="431596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never sees a logout screen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0" y="6217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932688"/>
            <a:ext cx="41148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5" name="Shape 23"/>
          <p:cNvSpPr/>
          <p:nvPr/>
        </p:nvSpPr>
        <p:spPr>
          <a:xfrm>
            <a:off x="4572000" y="932688"/>
            <a:ext cx="1005840" cy="676656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26" name="Text 24"/>
          <p:cNvSpPr/>
          <p:nvPr/>
        </p:nvSpPr>
        <p:spPr>
          <a:xfrm>
            <a:off x="4572000" y="932688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969264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 · user management · all CRUD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1691640"/>
            <a:ext cx="41148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29" name="Shape 27"/>
          <p:cNvSpPr/>
          <p:nvPr/>
        </p:nvSpPr>
        <p:spPr>
          <a:xfrm>
            <a:off x="4572000" y="1691640"/>
            <a:ext cx="1005840" cy="676656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0" name="Text 28"/>
          <p:cNvSpPr/>
          <p:nvPr/>
        </p:nvSpPr>
        <p:spPr>
          <a:xfrm>
            <a:off x="4572000" y="1691640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23560" y="1728216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· assign · team oversight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2450592"/>
            <a:ext cx="41148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3" name="Shape 31"/>
          <p:cNvSpPr/>
          <p:nvPr/>
        </p:nvSpPr>
        <p:spPr>
          <a:xfrm>
            <a:off x="4572000" y="2450592"/>
            <a:ext cx="1005840" cy="676656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4" name="Text 32"/>
          <p:cNvSpPr/>
          <p:nvPr/>
        </p:nvSpPr>
        <p:spPr>
          <a:xfrm>
            <a:off x="4572000" y="2450592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23560" y="2487168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edit tasks · invite collaborators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3209544"/>
            <a:ext cx="41148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37" name="Shape 35"/>
          <p:cNvSpPr/>
          <p:nvPr/>
        </p:nvSpPr>
        <p:spPr>
          <a:xfrm>
            <a:off x="4572000" y="3209544"/>
            <a:ext cx="1005840" cy="676656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8" name="Text 36"/>
          <p:cNvSpPr/>
          <p:nvPr/>
        </p:nvSpPr>
        <p:spPr>
          <a:xfrm>
            <a:off x="4572000" y="3209544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23560" y="3246120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view reports · API access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3968496"/>
            <a:ext cx="4114800" cy="676656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1" name="Shape 39"/>
          <p:cNvSpPr/>
          <p:nvPr/>
        </p:nvSpPr>
        <p:spPr>
          <a:xfrm>
            <a:off x="4572000" y="3968496"/>
            <a:ext cx="1005840" cy="676656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2" name="Text 40"/>
          <p:cNvSpPr/>
          <p:nvPr/>
        </p:nvSpPr>
        <p:spPr>
          <a:xfrm>
            <a:off x="4572000" y="3968496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623560" y="4005072"/>
            <a:ext cx="29992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tasks · subtask CRUD · collaborate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Work Your Way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578608" cy="370332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578608" cy="475488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630936" y="1069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" y="1554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/kanban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0936" y="18745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HTML5 drag-and-drop API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update + rollback on error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column syncs IsCompleted + Status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drag on one screen updates all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82696" y="1005840"/>
            <a:ext cx="2578608" cy="370332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Shape 7"/>
          <p:cNvSpPr/>
          <p:nvPr/>
        </p:nvSpPr>
        <p:spPr>
          <a:xfrm>
            <a:off x="3282696" y="1005840"/>
            <a:ext cx="2578608" cy="475488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3410712" y="1069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0712" y="1554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/calendar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10712" y="18745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grid with priority-coloured chips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Day-detail panel on click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highlight + prev/next nav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task adds/removes via WebSocket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62472" y="1005840"/>
            <a:ext cx="2578608" cy="370332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14" name="Shape 12"/>
          <p:cNvSpPr/>
          <p:nvPr/>
        </p:nvSpPr>
        <p:spPr>
          <a:xfrm>
            <a:off x="6062472" y="1005840"/>
            <a:ext cx="2578608" cy="475488"/>
          </a:xfrm>
          <a:prstGeom prst="rect">
            <a:avLst/>
          </a:prstGeom>
          <a:solidFill>
            <a:srgbClr val="5B4A8C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5" name="Text 13"/>
          <p:cNvSpPr/>
          <p:nvPr/>
        </p:nvSpPr>
        <p:spPr>
          <a:xfrm>
            <a:off x="6190488" y="1069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List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0488" y="1554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90488" y="18745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search · paginate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Bulk: complete / delete / reprioritize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escalation → auto High priority</a:t>
            </a:r>
            <a:endParaRPr lang="en-US" sz="1050" dirty="0"/>
          </a:p>
          <a:p>
            <a:pPr algn="l"/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icon on dependency-blocked tasks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AI-Powered, Not AI-Sprinkled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3931920" cy="365760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3931920" cy="475488"/>
          </a:xfrm>
          <a:prstGeom prst="rect">
            <a:avLst/>
          </a:prstGeom>
          <a:solidFill>
            <a:srgbClr val="2B6CB0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5" name="Text 3"/>
          <p:cNvSpPr/>
          <p:nvPr/>
        </p:nvSpPr>
        <p:spPr>
          <a:xfrm>
            <a:off x="630936" y="1069848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Task Filter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" y="157276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API  ·  /api/tasks/ai-filter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0936" y="1920240"/>
            <a:ext cx="37307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"show me overdue high priority tasks" in the chat — results appear instantly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parses intent and returns a structured filter applied server-side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gracefully to manual filters if AI is unavailable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response so the UI reacts before the full reply arrives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931920" cy="3657600"/>
          </a:xfrm>
          <a:prstGeom prst="rect">
            <a:avLst/>
          </a:prstGeom>
          <a:solidFill>
            <a:srgbClr val="3A4558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15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931920" cy="475488"/>
          </a:xfrm>
          <a:prstGeom prst="rect">
            <a:avLst/>
          </a:prstGeom>
          <a:solidFill>
            <a:srgbClr val="4A6741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0" name="Text 8"/>
          <p:cNvSpPr/>
          <p:nvPr/>
        </p:nvSpPr>
        <p:spPr>
          <a:xfrm>
            <a:off x="4837176" y="1069848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Subtask Suggestions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37176" y="157276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A9E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GROQ API  ·  DetailView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37176" y="1920240"/>
            <a:ext cx="37307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task — click "Suggest subtasks" — GROQ reads the title and description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3-5 actionable subtask titles that can be added with one click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is context-aware: priority, due date, and existing subtasks are sent</a:t>
            </a:r>
            <a:endParaRPr lang="en-US" sz="1100" dirty="0"/>
          </a:p>
          <a:p>
            <a:pPr algn="l"/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streams into the panel — no waiting for a full payload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4937760" y="1188720"/>
          <a:ext cx="3749040" cy="3493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hape 0"/>
          <p:cNvSpPr/>
          <p:nvPr/>
        </p:nvSpPr>
        <p:spPr>
          <a:xfrm>
            <a:off x="6693408" y="1005840"/>
            <a:ext cx="128016" cy="228600"/>
          </a:xfrm>
          <a:prstGeom prst="rect">
            <a:avLst/>
          </a:prstGeom>
          <a:solidFill>
            <a:srgbClr val="F6C90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1"/>
          <p:cNvSpPr/>
          <p:nvPr/>
        </p:nvSpPr>
        <p:spPr>
          <a:xfrm>
            <a:off x="502920" y="65836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Luck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02920" y="1691640"/>
            <a:ext cx="4114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decide what to work on?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wheel decide.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2920" y="2670048"/>
            <a:ext cx="54864" cy="365760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7" name="Text 4"/>
          <p:cNvSpPr/>
          <p:nvPr/>
        </p:nvSpPr>
        <p:spPr>
          <a:xfrm>
            <a:off x="658368" y="26700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all active tasks in one API call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218688"/>
            <a:ext cx="54864" cy="365760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9" name="Text 6"/>
          <p:cNvSpPr/>
          <p:nvPr/>
        </p:nvSpPr>
        <p:spPr>
          <a:xfrm>
            <a:off x="658368" y="3218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animation with easeOutCubic deceleration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767328"/>
            <a:ext cx="54864" cy="365760"/>
          </a:xfrm>
          <a:prstGeom prst="rect">
            <a:avLst/>
          </a:prstGeom>
          <a:solidFill>
            <a:srgbClr val="8A9E6E"/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11" name="Text 8"/>
          <p:cNvSpPr/>
          <p:nvPr/>
        </p:nvSpPr>
        <p:spPr>
          <a:xfrm>
            <a:off x="658368" y="37673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card navigates directly to the task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4315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Spins the wheel. You do the work.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097280"/>
            <a:ext cx="5029200" cy="5029200"/>
          </a:xfrm>
          <a:prstGeom prst="ellipse">
            <a:avLst/>
          </a:prstGeom>
          <a:solidFill>
            <a:srgbClr val="8A9E6E">
              <a:alpha val="9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3" name="Shape 1"/>
          <p:cNvSpPr/>
          <p:nvPr/>
        </p:nvSpPr>
        <p:spPr>
          <a:xfrm>
            <a:off x="6583680" y="2011680"/>
            <a:ext cx="3840480" cy="3840480"/>
          </a:xfrm>
          <a:prstGeom prst="ellipse">
            <a:avLst/>
          </a:prstGeom>
          <a:solidFill>
            <a:srgbClr val="4A6741">
              <a:alpha val="11000"/>
            </a:srgbClr>
          </a:solidFill>
          <a:ln/>
        </p:spPr>
        <p:txBody>
          <a:bodyPr/>
          <a:lstStyle/>
          <a:p>
            <a:endParaRPr lang="en-150"/>
          </a:p>
        </p:txBody>
      </p:sp>
      <p:sp>
        <p:nvSpPr>
          <p:cNvPr id="4" name="Text 2"/>
          <p:cNvSpPr/>
          <p:nvPr/>
        </p:nvSpPr>
        <p:spPr>
          <a:xfrm>
            <a:off x="0" y="1005840"/>
            <a:ext cx="9144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0" b="1" kern="0" spc="1800" dirty="0">
                <a:solidFill>
                  <a:srgbClr val="8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800" dirty="0"/>
          </a:p>
        </p:txBody>
      </p:sp>
      <p:sp>
        <p:nvSpPr>
          <p:cNvPr id="5" name="Text 3"/>
          <p:cNvSpPr/>
          <p:nvPr/>
        </p:nvSpPr>
        <p:spPr>
          <a:xfrm>
            <a:off x="0" y="431596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718096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/>
              </a:rPr>
              <a:t>https://planex-website.onrender.com/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539</Words>
  <Application>Microsoft Office PowerPoint</Application>
  <PresentationFormat>On-screen Show (16:9)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Planex</dc:title>
  <dc:subject>PptxGenJS Presentation</dc:subject>
  <dc:creator>Razvan Berbecar</dc:creator>
  <cp:lastModifiedBy>RĂZVAN BERBECAR</cp:lastModifiedBy>
  <cp:revision>2</cp:revision>
  <dcterms:created xsi:type="dcterms:W3CDTF">2026-06-12T19:10:06Z</dcterms:created>
  <dcterms:modified xsi:type="dcterms:W3CDTF">2026-06-12T19:14:31Z</dcterms:modified>
</cp:coreProperties>
</file>