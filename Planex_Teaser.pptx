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7" d="100"/>
          <a:sy n="107" d="100"/>
        </p:scale>
        <p:origin x="754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Tasks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8A9E6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E26A-47D8-8E0B-F6490398117F}"/>
              </c:ext>
            </c:extLst>
          </c:dPt>
          <c:dPt>
            <c:idx val="1"/>
            <c:bubble3D val="0"/>
            <c:spPr>
              <a:solidFill>
                <a:srgbClr val="4A674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E26A-47D8-8E0B-F6490398117F}"/>
              </c:ext>
            </c:extLst>
          </c:dPt>
          <c:dPt>
            <c:idx val="2"/>
            <c:bubble3D val="0"/>
            <c:spPr>
              <a:solidFill>
                <a:srgbClr val="5B4A8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E26A-47D8-8E0B-F6490398117F}"/>
              </c:ext>
            </c:extLst>
          </c:dPt>
          <c:dPt>
            <c:idx val="3"/>
            <c:bubble3D val="0"/>
            <c:spPr>
              <a:solidFill>
                <a:srgbClr val="2B6CB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E26A-47D8-8E0B-F6490398117F}"/>
              </c:ext>
            </c:extLst>
          </c:dPt>
          <c:dPt>
            <c:idx val="4"/>
            <c:bubble3D val="0"/>
            <c:spPr>
              <a:solidFill>
                <a:srgbClr val="74421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E26A-47D8-8E0B-F6490398117F}"/>
              </c:ext>
            </c:extLst>
          </c:dPt>
          <c:dPt>
            <c:idx val="5"/>
            <c:bubble3D val="0"/>
            <c:spPr>
              <a:solidFill>
                <a:srgbClr val="1A6B8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E26A-47D8-8E0B-F6490398117F}"/>
              </c:ext>
            </c:extLst>
          </c:dPt>
          <c:dPt>
            <c:idx val="6"/>
            <c:bubble3D val="0"/>
            <c:spPr>
              <a:solidFill>
                <a:srgbClr val="B7550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E26A-47D8-8E0B-F6490398117F}"/>
              </c:ext>
            </c:extLst>
          </c:dPt>
          <c:dPt>
            <c:idx val="7"/>
            <c:bubble3D val="0"/>
            <c:spPr>
              <a:solidFill>
                <a:srgbClr val="6B46C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F-E26A-47D8-8E0B-F6490398117F}"/>
              </c:ext>
            </c:extLst>
          </c:dPt>
          <c:cat>
            <c:strRef>
              <c:f>Sheet1!$A$2:$A$9</c:f>
              <c:strCache>
                <c:ptCount val="8"/>
                <c:pt idx="0">
                  <c:v>t1</c:v>
                </c:pt>
                <c:pt idx="1">
                  <c:v>t2</c:v>
                </c:pt>
                <c:pt idx="2">
                  <c:v>t3</c:v>
                </c:pt>
                <c:pt idx="3">
                  <c:v>t4</c:v>
                </c:pt>
                <c:pt idx="4">
                  <c:v>t5</c:v>
                </c:pt>
                <c:pt idx="5">
                  <c:v>t6</c:v>
                </c:pt>
                <c:pt idx="6">
                  <c:v>t7</c:v>
                </c:pt>
                <c:pt idx="7">
                  <c:v>t8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  <c:pt idx="5">
                  <c:v>1</c:v>
                </c:pt>
                <c:pt idx="6">
                  <c:v>1</c:v>
                </c:pt>
                <c:pt idx="7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0-E26A-47D8-8E0B-F6490398117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solidFill>
          <a:srgbClr val="1A202C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1A202C"/>
    </a:solidFill>
    <a:ln w="12700" cap="flat">
      <a:solidFill>
        <a:srgbClr val="1A202C"/>
      </a:solidFill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10163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0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-1280160"/>
            <a:ext cx="4572000" cy="4572000"/>
          </a:xfrm>
          <a:prstGeom prst="ellipse">
            <a:avLst/>
          </a:prstGeom>
          <a:solidFill>
            <a:srgbClr val="8A9E6E">
              <a:alpha val="32000"/>
            </a:srgbClr>
          </a:solidFill>
          <a:ln w="12700">
            <a:solidFill>
              <a:srgbClr val="8A9E6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150"/>
          </a:p>
        </p:txBody>
      </p:sp>
      <p:sp>
        <p:nvSpPr>
          <p:cNvPr id="3" name="Shape 1"/>
          <p:cNvSpPr/>
          <p:nvPr/>
        </p:nvSpPr>
        <p:spPr>
          <a:xfrm>
            <a:off x="7132320" y="2651760"/>
            <a:ext cx="2560320" cy="2560320"/>
          </a:xfrm>
          <a:prstGeom prst="ellipse">
            <a:avLst/>
          </a:prstGeom>
          <a:solidFill>
            <a:srgbClr val="4A6741">
              <a:alpha val="38000"/>
            </a:srgbClr>
          </a:solidFill>
          <a:ln w="12700">
            <a:solidFill>
              <a:srgbClr val="4A6741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150"/>
          </a:p>
        </p:txBody>
      </p:sp>
      <p:sp>
        <p:nvSpPr>
          <p:cNvPr id="4" name="Shape 2"/>
          <p:cNvSpPr/>
          <p:nvPr/>
        </p:nvSpPr>
        <p:spPr>
          <a:xfrm>
            <a:off x="566928" y="1508760"/>
            <a:ext cx="64008" cy="1463040"/>
          </a:xfrm>
          <a:prstGeom prst="rect">
            <a:avLst/>
          </a:prstGeom>
          <a:solidFill>
            <a:srgbClr val="8A9E6E"/>
          </a:solidFill>
          <a:ln/>
        </p:spPr>
        <p:txBody>
          <a:bodyPr/>
          <a:lstStyle/>
          <a:p>
            <a:endParaRPr lang="en-150"/>
          </a:p>
        </p:txBody>
      </p:sp>
      <p:sp>
        <p:nvSpPr>
          <p:cNvPr id="5" name="Text 3"/>
          <p:cNvSpPr/>
          <p:nvPr/>
        </p:nvSpPr>
        <p:spPr>
          <a:xfrm>
            <a:off x="713232" y="1417320"/>
            <a:ext cx="5943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Planex</a:t>
            </a:r>
            <a:endParaRPr lang="en-US" sz="8000" dirty="0"/>
          </a:p>
        </p:txBody>
      </p:sp>
      <p:sp>
        <p:nvSpPr>
          <p:cNvPr id="6" name="Text 4"/>
          <p:cNvSpPr/>
          <p:nvPr/>
        </p:nvSpPr>
        <p:spPr>
          <a:xfrm>
            <a:off x="713232" y="288036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real-time collaborative task manager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13232" y="4407408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Razvan Berbecar  ·  SDI University Project  · 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2D374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kills team productivity?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02920" y="1024128"/>
            <a:ext cx="2578608" cy="3520440"/>
          </a:xfrm>
          <a:prstGeom prst="rect">
            <a:avLst/>
          </a:prstGeom>
          <a:solidFill>
            <a:srgbClr val="3A4558"/>
          </a:solidFill>
          <a:ln/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150"/>
          </a:p>
        </p:txBody>
      </p:sp>
      <p:sp>
        <p:nvSpPr>
          <p:cNvPr id="4" name="Shape 2"/>
          <p:cNvSpPr/>
          <p:nvPr/>
        </p:nvSpPr>
        <p:spPr>
          <a:xfrm>
            <a:off x="502920" y="1024128"/>
            <a:ext cx="2578608" cy="54864"/>
          </a:xfrm>
          <a:prstGeom prst="rect">
            <a:avLst/>
          </a:prstGeom>
          <a:solidFill>
            <a:srgbClr val="8A9E6E"/>
          </a:solidFill>
          <a:ln/>
        </p:spPr>
        <p:txBody>
          <a:bodyPr/>
          <a:lstStyle/>
          <a:p>
            <a:endParaRPr lang="en-150"/>
          </a:p>
        </p:txBody>
      </p:sp>
      <p:sp>
        <p:nvSpPr>
          <p:cNvPr id="5" name="Text 3"/>
          <p:cNvSpPr/>
          <p:nvPr/>
        </p:nvSpPr>
        <p:spPr>
          <a:xfrm>
            <a:off x="667512" y="118872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8A9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667512" y="1828800"/>
            <a:ext cx="23042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8A9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live sync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67512" y="2395728"/>
            <a:ext cx="2304288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refresh the page to see what changed.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That's not collaboration.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That's archaeology.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82696" y="1024128"/>
            <a:ext cx="2578608" cy="3520440"/>
          </a:xfrm>
          <a:prstGeom prst="rect">
            <a:avLst/>
          </a:prstGeom>
          <a:solidFill>
            <a:srgbClr val="3A4558"/>
          </a:solidFill>
          <a:ln/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150"/>
          </a:p>
        </p:txBody>
      </p:sp>
      <p:sp>
        <p:nvSpPr>
          <p:cNvPr id="9" name="Shape 7"/>
          <p:cNvSpPr/>
          <p:nvPr/>
        </p:nvSpPr>
        <p:spPr>
          <a:xfrm>
            <a:off x="3282696" y="1024128"/>
            <a:ext cx="2578608" cy="54864"/>
          </a:xfrm>
          <a:prstGeom prst="rect">
            <a:avLst/>
          </a:prstGeom>
          <a:solidFill>
            <a:srgbClr val="8A9E6E"/>
          </a:solidFill>
          <a:ln/>
        </p:spPr>
        <p:txBody>
          <a:bodyPr/>
          <a:lstStyle/>
          <a:p>
            <a:endParaRPr lang="en-150"/>
          </a:p>
        </p:txBody>
      </p:sp>
      <p:sp>
        <p:nvSpPr>
          <p:cNvPr id="10" name="Text 8"/>
          <p:cNvSpPr/>
          <p:nvPr/>
        </p:nvSpPr>
        <p:spPr>
          <a:xfrm>
            <a:off x="3447288" y="118872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8A9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3447288" y="1828800"/>
            <a:ext cx="23042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8A9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paralysis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3447288" y="2395728"/>
            <a:ext cx="2304288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 open tasks.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idea which one matters.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Paralysis disguised as planning.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062472" y="1024128"/>
            <a:ext cx="2578608" cy="3520440"/>
          </a:xfrm>
          <a:prstGeom prst="rect">
            <a:avLst/>
          </a:prstGeom>
          <a:solidFill>
            <a:srgbClr val="3A4558"/>
          </a:solidFill>
          <a:ln/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150"/>
          </a:p>
        </p:txBody>
      </p:sp>
      <p:sp>
        <p:nvSpPr>
          <p:cNvPr id="14" name="Shape 12"/>
          <p:cNvSpPr/>
          <p:nvPr/>
        </p:nvSpPr>
        <p:spPr>
          <a:xfrm>
            <a:off x="6062472" y="1024128"/>
            <a:ext cx="2578608" cy="54864"/>
          </a:xfrm>
          <a:prstGeom prst="rect">
            <a:avLst/>
          </a:prstGeom>
          <a:solidFill>
            <a:srgbClr val="8A9E6E"/>
          </a:solidFill>
          <a:ln/>
        </p:spPr>
        <p:txBody>
          <a:bodyPr/>
          <a:lstStyle/>
          <a:p>
            <a:endParaRPr lang="en-150"/>
          </a:p>
        </p:txBody>
      </p:sp>
      <p:sp>
        <p:nvSpPr>
          <p:cNvPr id="15" name="Text 13"/>
          <p:cNvSpPr/>
          <p:nvPr/>
        </p:nvSpPr>
        <p:spPr>
          <a:xfrm>
            <a:off x="6227064" y="118872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8A9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6227064" y="1828800"/>
            <a:ext cx="23042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8A9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accountability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6227064" y="2395728"/>
            <a:ext cx="2304288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changed that?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deleted this?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audit trail. No answer.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20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WebSocket — Everything is Live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02920" y="1143000"/>
            <a:ext cx="1920240" cy="1005840"/>
          </a:xfrm>
          <a:prstGeom prst="rect">
            <a:avLst/>
          </a:prstGeom>
          <a:solidFill>
            <a:srgbClr val="8A9E6E"/>
          </a:solidFill>
          <a:ln/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150"/>
          </a:p>
        </p:txBody>
      </p:sp>
      <p:sp>
        <p:nvSpPr>
          <p:cNvPr id="4" name="Text 2"/>
          <p:cNvSpPr/>
          <p:nvPr/>
        </p:nvSpPr>
        <p:spPr>
          <a:xfrm>
            <a:off x="502920" y="1143000"/>
            <a:ext cx="1920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11880" y="1143000"/>
            <a:ext cx="1920240" cy="1005840"/>
          </a:xfrm>
          <a:prstGeom prst="rect">
            <a:avLst/>
          </a:prstGeom>
          <a:solidFill>
            <a:srgbClr val="4A6741"/>
          </a:solidFill>
          <a:ln/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150"/>
          </a:p>
        </p:txBody>
      </p:sp>
      <p:sp>
        <p:nvSpPr>
          <p:cNvPr id="6" name="Text 4"/>
          <p:cNvSpPr/>
          <p:nvPr/>
        </p:nvSpPr>
        <p:spPr>
          <a:xfrm>
            <a:off x="3611880" y="1143000"/>
            <a:ext cx="1920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WebSocket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720840" y="1143000"/>
            <a:ext cx="1920240" cy="1005840"/>
          </a:xfrm>
          <a:prstGeom prst="rect">
            <a:avLst/>
          </a:prstGeom>
          <a:solidFill>
            <a:srgbClr val="8A9E6E"/>
          </a:solidFill>
          <a:ln/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150"/>
          </a:p>
        </p:txBody>
      </p:sp>
      <p:sp>
        <p:nvSpPr>
          <p:cNvPr id="8" name="Text 6"/>
          <p:cNvSpPr/>
          <p:nvPr/>
        </p:nvSpPr>
        <p:spPr>
          <a:xfrm>
            <a:off x="6720840" y="1143000"/>
            <a:ext cx="1920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Connected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2276856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/ updates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deletes a task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3566160" y="2276856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broadcasts event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payload to all sockets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675120" y="2276856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updates instantly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polling, no refresh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423160" y="1645920"/>
            <a:ext cx="118872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150"/>
          </a:p>
        </p:txBody>
      </p:sp>
      <p:sp>
        <p:nvSpPr>
          <p:cNvPr id="13" name="Shape 11"/>
          <p:cNvSpPr/>
          <p:nvPr/>
        </p:nvSpPr>
        <p:spPr>
          <a:xfrm>
            <a:off x="5532120" y="1645920"/>
            <a:ext cx="118872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150"/>
          </a:p>
        </p:txBody>
      </p:sp>
      <p:sp>
        <p:nvSpPr>
          <p:cNvPr id="14" name="Shape 12"/>
          <p:cNvSpPr/>
          <p:nvPr/>
        </p:nvSpPr>
        <p:spPr>
          <a:xfrm>
            <a:off x="502920" y="2807208"/>
            <a:ext cx="1920240" cy="548640"/>
          </a:xfrm>
          <a:prstGeom prst="rect">
            <a:avLst/>
          </a:prstGeom>
          <a:solidFill>
            <a:srgbClr val="3A4558"/>
          </a:solidFill>
          <a:ln/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150"/>
          </a:p>
        </p:txBody>
      </p:sp>
      <p:sp>
        <p:nvSpPr>
          <p:cNvPr id="15" name="Text 13"/>
          <p:cNvSpPr/>
          <p:nvPr/>
        </p:nvSpPr>
        <p:spPr>
          <a:xfrm>
            <a:off x="502920" y="2807208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task:created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task:updated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task:deleted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11880" y="2807208"/>
            <a:ext cx="1920240" cy="548640"/>
          </a:xfrm>
          <a:prstGeom prst="rect">
            <a:avLst/>
          </a:prstGeom>
          <a:solidFill>
            <a:srgbClr val="3A4558"/>
          </a:solidFill>
          <a:ln/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150"/>
          </a:p>
        </p:txBody>
      </p:sp>
      <p:sp>
        <p:nvSpPr>
          <p:cNvPr id="17" name="Text 15"/>
          <p:cNvSpPr/>
          <p:nvPr/>
        </p:nvSpPr>
        <p:spPr>
          <a:xfrm>
            <a:off x="3611880" y="2807208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subtask:created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subtask:updated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subtask:deleted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720840" y="2807208"/>
            <a:ext cx="1920240" cy="548640"/>
          </a:xfrm>
          <a:prstGeom prst="rect">
            <a:avLst/>
          </a:prstGeom>
          <a:solidFill>
            <a:srgbClr val="3A4558"/>
          </a:solidFill>
          <a:ln/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150"/>
          </a:p>
        </p:txBody>
      </p:sp>
      <p:sp>
        <p:nvSpPr>
          <p:cNvPr id="19" name="Text 17"/>
          <p:cNvSpPr/>
          <p:nvPr/>
        </p:nvSpPr>
        <p:spPr>
          <a:xfrm>
            <a:off x="6720840" y="2807208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Live chat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WS auth token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502920" y="3630168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view — List, Kanban, Calendar, SubtaskPanel — updates in real time with zero polling.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02920" y="4379976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A9E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ws  ·  broadcastTaskEvent()  ·  window.CustomEvent  ·  deduplication guard on race conditions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D374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That Actually Works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kern="0" spc="200" dirty="0">
                <a:solidFill>
                  <a:srgbClr val="8A9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AUTH FLOW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502920" y="932688"/>
            <a:ext cx="3657600" cy="676656"/>
          </a:xfrm>
          <a:prstGeom prst="rect">
            <a:avLst/>
          </a:prstGeom>
          <a:solidFill>
            <a:srgbClr val="3A4558"/>
          </a:solidFill>
          <a:ln/>
          <a:effectLst>
            <a:outerShdw blurRad="1016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150"/>
          </a:p>
        </p:txBody>
      </p:sp>
      <p:sp>
        <p:nvSpPr>
          <p:cNvPr id="5" name="Text 3"/>
          <p:cNvSpPr/>
          <p:nvPr/>
        </p:nvSpPr>
        <p:spPr>
          <a:xfrm>
            <a:off x="630936" y="987552"/>
            <a:ext cx="34564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30936" y="1280160"/>
            <a:ext cx="3456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7180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/api/auth/login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2331720" y="1609344"/>
            <a:ext cx="0" cy="82296"/>
          </a:xfrm>
          <a:prstGeom prst="line">
            <a:avLst/>
          </a:prstGeom>
          <a:noFill/>
          <a:ln w="19050">
            <a:solidFill>
              <a:srgbClr val="8A9E6E"/>
            </a:solidFill>
            <a:prstDash val="solid"/>
          </a:ln>
        </p:spPr>
        <p:txBody>
          <a:bodyPr/>
          <a:lstStyle/>
          <a:p>
            <a:endParaRPr lang="en-150"/>
          </a:p>
        </p:txBody>
      </p:sp>
      <p:sp>
        <p:nvSpPr>
          <p:cNvPr id="8" name="Shape 6"/>
          <p:cNvSpPr/>
          <p:nvPr/>
        </p:nvSpPr>
        <p:spPr>
          <a:xfrm>
            <a:off x="502920" y="1691640"/>
            <a:ext cx="3657600" cy="676656"/>
          </a:xfrm>
          <a:prstGeom prst="rect">
            <a:avLst/>
          </a:prstGeom>
          <a:solidFill>
            <a:srgbClr val="3A4558"/>
          </a:solidFill>
          <a:ln/>
          <a:effectLst>
            <a:outerShdw blurRad="1016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150"/>
          </a:p>
        </p:txBody>
      </p:sp>
      <p:sp>
        <p:nvSpPr>
          <p:cNvPr id="9" name="Text 7"/>
          <p:cNvSpPr/>
          <p:nvPr/>
        </p:nvSpPr>
        <p:spPr>
          <a:xfrm>
            <a:off x="630936" y="1746504"/>
            <a:ext cx="34564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Tokens issued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30936" y="2039112"/>
            <a:ext cx="3456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7180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15-min access + 7-day refresh → httpOnly cookie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331720" y="2368296"/>
            <a:ext cx="0" cy="82296"/>
          </a:xfrm>
          <a:prstGeom prst="line">
            <a:avLst/>
          </a:prstGeom>
          <a:noFill/>
          <a:ln w="19050">
            <a:solidFill>
              <a:srgbClr val="8A9E6E"/>
            </a:solidFill>
            <a:prstDash val="solid"/>
          </a:ln>
        </p:spPr>
        <p:txBody>
          <a:bodyPr/>
          <a:lstStyle/>
          <a:p>
            <a:endParaRPr lang="en-150"/>
          </a:p>
        </p:txBody>
      </p:sp>
      <p:sp>
        <p:nvSpPr>
          <p:cNvPr id="12" name="Shape 10"/>
          <p:cNvSpPr/>
          <p:nvPr/>
        </p:nvSpPr>
        <p:spPr>
          <a:xfrm>
            <a:off x="502920" y="2450592"/>
            <a:ext cx="3657600" cy="676656"/>
          </a:xfrm>
          <a:prstGeom prst="rect">
            <a:avLst/>
          </a:prstGeom>
          <a:solidFill>
            <a:srgbClr val="4A6741"/>
          </a:solidFill>
          <a:ln/>
          <a:effectLst>
            <a:outerShdw blurRad="1016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150"/>
          </a:p>
        </p:txBody>
      </p:sp>
      <p:sp>
        <p:nvSpPr>
          <p:cNvPr id="13" name="Text 11"/>
          <p:cNvSpPr/>
          <p:nvPr/>
        </p:nvSpPr>
        <p:spPr>
          <a:xfrm>
            <a:off x="630936" y="2505456"/>
            <a:ext cx="34564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6C9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401 TOKEN_EXPIRED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30936" y="2798064"/>
            <a:ext cx="3456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F9E79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backend { code } tells frontend what happened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2331720" y="3127248"/>
            <a:ext cx="0" cy="82296"/>
          </a:xfrm>
          <a:prstGeom prst="line">
            <a:avLst/>
          </a:prstGeom>
          <a:noFill/>
          <a:ln w="19050">
            <a:solidFill>
              <a:srgbClr val="8A9E6E"/>
            </a:solidFill>
            <a:prstDash val="solid"/>
          </a:ln>
        </p:spPr>
        <p:txBody>
          <a:bodyPr/>
          <a:lstStyle/>
          <a:p>
            <a:endParaRPr lang="en-150"/>
          </a:p>
        </p:txBody>
      </p:sp>
      <p:sp>
        <p:nvSpPr>
          <p:cNvPr id="16" name="Shape 14"/>
          <p:cNvSpPr/>
          <p:nvPr/>
        </p:nvSpPr>
        <p:spPr>
          <a:xfrm>
            <a:off x="502920" y="3209544"/>
            <a:ext cx="3657600" cy="676656"/>
          </a:xfrm>
          <a:prstGeom prst="rect">
            <a:avLst/>
          </a:prstGeom>
          <a:solidFill>
            <a:srgbClr val="3A4558"/>
          </a:solidFill>
          <a:ln/>
          <a:effectLst>
            <a:outerShdw blurRad="1016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150"/>
          </a:p>
        </p:txBody>
      </p:sp>
      <p:sp>
        <p:nvSpPr>
          <p:cNvPr id="17" name="Text 15"/>
          <p:cNvSpPr/>
          <p:nvPr/>
        </p:nvSpPr>
        <p:spPr>
          <a:xfrm>
            <a:off x="630936" y="3264408"/>
            <a:ext cx="34564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Silent Refresh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30936" y="3557016"/>
            <a:ext cx="3456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7180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/api/auth/refresh → new access token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2331720" y="3886200"/>
            <a:ext cx="0" cy="82296"/>
          </a:xfrm>
          <a:prstGeom prst="line">
            <a:avLst/>
          </a:prstGeom>
          <a:noFill/>
          <a:ln w="19050">
            <a:solidFill>
              <a:srgbClr val="8A9E6E"/>
            </a:solidFill>
            <a:prstDash val="solid"/>
          </a:ln>
        </p:spPr>
        <p:txBody>
          <a:bodyPr/>
          <a:lstStyle/>
          <a:p>
            <a:endParaRPr lang="en-150"/>
          </a:p>
        </p:txBody>
      </p:sp>
      <p:sp>
        <p:nvSpPr>
          <p:cNvPr id="20" name="Shape 18"/>
          <p:cNvSpPr/>
          <p:nvPr/>
        </p:nvSpPr>
        <p:spPr>
          <a:xfrm>
            <a:off x="502920" y="3968496"/>
            <a:ext cx="3657600" cy="676656"/>
          </a:xfrm>
          <a:prstGeom prst="rect">
            <a:avLst/>
          </a:prstGeom>
          <a:solidFill>
            <a:srgbClr val="3A4558"/>
          </a:solidFill>
          <a:ln/>
          <a:effectLst>
            <a:outerShdw blurRad="1016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150"/>
          </a:p>
        </p:txBody>
      </p:sp>
      <p:sp>
        <p:nvSpPr>
          <p:cNvPr id="21" name="Text 19"/>
          <p:cNvSpPr/>
          <p:nvPr/>
        </p:nvSpPr>
        <p:spPr>
          <a:xfrm>
            <a:off x="630936" y="4023360"/>
            <a:ext cx="34564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Seamless recovery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30936" y="4315968"/>
            <a:ext cx="3456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7180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 never sees a logout screen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4572000" y="621792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kern="0" spc="200" dirty="0">
                <a:solidFill>
                  <a:srgbClr val="8A9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 CONTROL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4572000" y="932688"/>
            <a:ext cx="4114800" cy="676656"/>
          </a:xfrm>
          <a:prstGeom prst="rect">
            <a:avLst/>
          </a:prstGeom>
          <a:solidFill>
            <a:srgbClr val="3A4558"/>
          </a:solidFill>
          <a:ln/>
          <a:effectLst>
            <a:outerShdw blurRad="1016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150"/>
          </a:p>
        </p:txBody>
      </p:sp>
      <p:sp>
        <p:nvSpPr>
          <p:cNvPr id="25" name="Shape 23"/>
          <p:cNvSpPr/>
          <p:nvPr/>
        </p:nvSpPr>
        <p:spPr>
          <a:xfrm>
            <a:off x="4572000" y="932688"/>
            <a:ext cx="1005840" cy="676656"/>
          </a:xfrm>
          <a:prstGeom prst="rect">
            <a:avLst/>
          </a:prstGeom>
          <a:solidFill>
            <a:srgbClr val="8A9E6E"/>
          </a:solidFill>
          <a:ln/>
        </p:spPr>
        <p:txBody>
          <a:bodyPr/>
          <a:lstStyle/>
          <a:p>
            <a:endParaRPr lang="en-150"/>
          </a:p>
        </p:txBody>
      </p:sp>
      <p:sp>
        <p:nvSpPr>
          <p:cNvPr id="26" name="Text 24"/>
          <p:cNvSpPr/>
          <p:nvPr/>
        </p:nvSpPr>
        <p:spPr>
          <a:xfrm>
            <a:off x="4572000" y="932688"/>
            <a:ext cx="10058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623560" y="969264"/>
            <a:ext cx="299923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access · user management · all CRUD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572000" y="1691640"/>
            <a:ext cx="4114800" cy="676656"/>
          </a:xfrm>
          <a:prstGeom prst="rect">
            <a:avLst/>
          </a:prstGeom>
          <a:solidFill>
            <a:srgbClr val="3A4558"/>
          </a:solidFill>
          <a:ln/>
          <a:effectLst>
            <a:outerShdw blurRad="1016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150"/>
          </a:p>
        </p:txBody>
      </p:sp>
      <p:sp>
        <p:nvSpPr>
          <p:cNvPr id="29" name="Shape 27"/>
          <p:cNvSpPr/>
          <p:nvPr/>
        </p:nvSpPr>
        <p:spPr>
          <a:xfrm>
            <a:off x="4572000" y="1691640"/>
            <a:ext cx="1005840" cy="676656"/>
          </a:xfrm>
          <a:prstGeom prst="rect">
            <a:avLst/>
          </a:prstGeom>
          <a:solidFill>
            <a:srgbClr val="4A6741"/>
          </a:solidFill>
          <a:ln/>
        </p:spPr>
        <p:txBody>
          <a:bodyPr/>
          <a:lstStyle/>
          <a:p>
            <a:endParaRPr lang="en-150"/>
          </a:p>
        </p:txBody>
      </p:sp>
      <p:sp>
        <p:nvSpPr>
          <p:cNvPr id="30" name="Text 28"/>
          <p:cNvSpPr/>
          <p:nvPr/>
        </p:nvSpPr>
        <p:spPr>
          <a:xfrm>
            <a:off x="4572000" y="1691640"/>
            <a:ext cx="10058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623560" y="1728216"/>
            <a:ext cx="299923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management · assign · team oversight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572000" y="2450592"/>
            <a:ext cx="4114800" cy="676656"/>
          </a:xfrm>
          <a:prstGeom prst="rect">
            <a:avLst/>
          </a:prstGeom>
          <a:solidFill>
            <a:srgbClr val="3A4558"/>
          </a:solidFill>
          <a:ln/>
          <a:effectLst>
            <a:outerShdw blurRad="1016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150"/>
          </a:p>
        </p:txBody>
      </p:sp>
      <p:sp>
        <p:nvSpPr>
          <p:cNvPr id="33" name="Shape 31"/>
          <p:cNvSpPr/>
          <p:nvPr/>
        </p:nvSpPr>
        <p:spPr>
          <a:xfrm>
            <a:off x="4572000" y="2450592"/>
            <a:ext cx="1005840" cy="676656"/>
          </a:xfrm>
          <a:prstGeom prst="rect">
            <a:avLst/>
          </a:prstGeom>
          <a:solidFill>
            <a:srgbClr val="4A6741"/>
          </a:solidFill>
          <a:ln/>
        </p:spPr>
        <p:txBody>
          <a:bodyPr/>
          <a:lstStyle/>
          <a:p>
            <a:endParaRPr lang="en-150"/>
          </a:p>
        </p:txBody>
      </p:sp>
      <p:sp>
        <p:nvSpPr>
          <p:cNvPr id="34" name="Text 32"/>
          <p:cNvSpPr/>
          <p:nvPr/>
        </p:nvSpPr>
        <p:spPr>
          <a:xfrm>
            <a:off x="4572000" y="2450592"/>
            <a:ext cx="10058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Editor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623560" y="2487168"/>
            <a:ext cx="299923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&amp; edit tasks · invite collaborators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572000" y="3209544"/>
            <a:ext cx="4114800" cy="676656"/>
          </a:xfrm>
          <a:prstGeom prst="rect">
            <a:avLst/>
          </a:prstGeom>
          <a:solidFill>
            <a:srgbClr val="3A4558"/>
          </a:solidFill>
          <a:ln/>
          <a:effectLst>
            <a:outerShdw blurRad="1016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150"/>
          </a:p>
        </p:txBody>
      </p:sp>
      <p:sp>
        <p:nvSpPr>
          <p:cNvPr id="37" name="Shape 35"/>
          <p:cNvSpPr/>
          <p:nvPr/>
        </p:nvSpPr>
        <p:spPr>
          <a:xfrm>
            <a:off x="4572000" y="3209544"/>
            <a:ext cx="1005840" cy="676656"/>
          </a:xfrm>
          <a:prstGeom prst="rect">
            <a:avLst/>
          </a:prstGeom>
          <a:solidFill>
            <a:srgbClr val="4A6741"/>
          </a:solidFill>
          <a:ln/>
        </p:spPr>
        <p:txBody>
          <a:bodyPr/>
          <a:lstStyle/>
          <a:p>
            <a:endParaRPr lang="en-150"/>
          </a:p>
        </p:txBody>
      </p:sp>
      <p:sp>
        <p:nvSpPr>
          <p:cNvPr id="38" name="Text 36"/>
          <p:cNvSpPr/>
          <p:nvPr/>
        </p:nvSpPr>
        <p:spPr>
          <a:xfrm>
            <a:off x="4572000" y="3209544"/>
            <a:ext cx="10058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Viewer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5623560" y="3246120"/>
            <a:ext cx="299923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Read-only · view reports · API access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4572000" y="3968496"/>
            <a:ext cx="4114800" cy="676656"/>
          </a:xfrm>
          <a:prstGeom prst="rect">
            <a:avLst/>
          </a:prstGeom>
          <a:solidFill>
            <a:srgbClr val="3A4558"/>
          </a:solidFill>
          <a:ln/>
          <a:effectLst>
            <a:outerShdw blurRad="1016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150"/>
          </a:p>
        </p:txBody>
      </p:sp>
      <p:sp>
        <p:nvSpPr>
          <p:cNvPr id="41" name="Shape 39"/>
          <p:cNvSpPr/>
          <p:nvPr/>
        </p:nvSpPr>
        <p:spPr>
          <a:xfrm>
            <a:off x="4572000" y="3968496"/>
            <a:ext cx="1005840" cy="676656"/>
          </a:xfrm>
          <a:prstGeom prst="rect">
            <a:avLst/>
          </a:prstGeom>
          <a:solidFill>
            <a:srgbClr val="4A6741"/>
          </a:solidFill>
          <a:ln/>
        </p:spPr>
        <p:txBody>
          <a:bodyPr/>
          <a:lstStyle/>
          <a:p>
            <a:endParaRPr lang="en-150"/>
          </a:p>
        </p:txBody>
      </p:sp>
      <p:sp>
        <p:nvSpPr>
          <p:cNvPr id="42" name="Text 40"/>
          <p:cNvSpPr/>
          <p:nvPr/>
        </p:nvSpPr>
        <p:spPr>
          <a:xfrm>
            <a:off x="4572000" y="3968496"/>
            <a:ext cx="10058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5623560" y="4005072"/>
            <a:ext cx="299923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tasks · subtask CRUD · collaborate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20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Your Work Your Way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02920" y="1005840"/>
            <a:ext cx="2578608" cy="3703320"/>
          </a:xfrm>
          <a:prstGeom prst="rect">
            <a:avLst/>
          </a:prstGeom>
          <a:solidFill>
            <a:srgbClr val="3A4558"/>
          </a:solidFill>
          <a:ln/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150"/>
          </a:p>
        </p:txBody>
      </p:sp>
      <p:sp>
        <p:nvSpPr>
          <p:cNvPr id="4" name="Shape 2"/>
          <p:cNvSpPr/>
          <p:nvPr/>
        </p:nvSpPr>
        <p:spPr>
          <a:xfrm>
            <a:off x="502920" y="1005840"/>
            <a:ext cx="2578608" cy="475488"/>
          </a:xfrm>
          <a:prstGeom prst="rect">
            <a:avLst/>
          </a:prstGeom>
          <a:solidFill>
            <a:srgbClr val="8A9E6E"/>
          </a:solidFill>
          <a:ln/>
        </p:spPr>
        <p:txBody>
          <a:bodyPr/>
          <a:lstStyle/>
          <a:p>
            <a:endParaRPr lang="en-150"/>
          </a:p>
        </p:txBody>
      </p:sp>
      <p:sp>
        <p:nvSpPr>
          <p:cNvPr id="5" name="Text 3"/>
          <p:cNvSpPr/>
          <p:nvPr/>
        </p:nvSpPr>
        <p:spPr>
          <a:xfrm>
            <a:off x="630936" y="106984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Kanban Board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30936" y="155448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8A9E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/kanban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30936" y="1874520"/>
            <a:ext cx="23774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/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HTML5 drag-and-drop API</a:t>
            </a:r>
            <a:endParaRPr lang="en-US" sz="1050" dirty="0"/>
          </a:p>
          <a:p>
            <a:pPr algn="l"/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Optimistic update + rollback on error</a:t>
            </a:r>
            <a:endParaRPr lang="en-US" sz="1050" dirty="0"/>
          </a:p>
          <a:p>
            <a:pPr algn="l"/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 column syncs IsCompleted + Status</a:t>
            </a:r>
            <a:endParaRPr lang="en-US" sz="1050" dirty="0"/>
          </a:p>
          <a:p>
            <a:pPr algn="l"/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Live: drag on one screen updates all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282696" y="1005840"/>
            <a:ext cx="2578608" cy="3703320"/>
          </a:xfrm>
          <a:prstGeom prst="rect">
            <a:avLst/>
          </a:prstGeom>
          <a:solidFill>
            <a:srgbClr val="3A4558"/>
          </a:solidFill>
          <a:ln/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150"/>
          </a:p>
        </p:txBody>
      </p:sp>
      <p:sp>
        <p:nvSpPr>
          <p:cNvPr id="9" name="Shape 7"/>
          <p:cNvSpPr/>
          <p:nvPr/>
        </p:nvSpPr>
        <p:spPr>
          <a:xfrm>
            <a:off x="3282696" y="1005840"/>
            <a:ext cx="2578608" cy="475488"/>
          </a:xfrm>
          <a:prstGeom prst="rect">
            <a:avLst/>
          </a:prstGeom>
          <a:solidFill>
            <a:srgbClr val="4A6741"/>
          </a:solidFill>
          <a:ln/>
        </p:spPr>
        <p:txBody>
          <a:bodyPr/>
          <a:lstStyle/>
          <a:p>
            <a:endParaRPr lang="en-150"/>
          </a:p>
        </p:txBody>
      </p:sp>
      <p:sp>
        <p:nvSpPr>
          <p:cNvPr id="10" name="Text 8"/>
          <p:cNvSpPr/>
          <p:nvPr/>
        </p:nvSpPr>
        <p:spPr>
          <a:xfrm>
            <a:off x="3410712" y="106984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Calendar View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410712" y="155448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8A9E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/calendar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410712" y="1874520"/>
            <a:ext cx="23774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/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grid with priority-coloured chips</a:t>
            </a:r>
            <a:endParaRPr lang="en-US" sz="1050" dirty="0"/>
          </a:p>
          <a:p>
            <a:pPr algn="l"/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Day-detail panel on click</a:t>
            </a:r>
            <a:endParaRPr lang="en-US" sz="1050" dirty="0"/>
          </a:p>
          <a:p>
            <a:pPr algn="l"/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highlight + prev/next nav</a:t>
            </a:r>
            <a:endParaRPr lang="en-US" sz="1050" dirty="0"/>
          </a:p>
          <a:p>
            <a:pPr algn="l"/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task adds/removes via WebSocket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062472" y="1005840"/>
            <a:ext cx="2578608" cy="3703320"/>
          </a:xfrm>
          <a:prstGeom prst="rect">
            <a:avLst/>
          </a:prstGeom>
          <a:solidFill>
            <a:srgbClr val="3A4558"/>
          </a:solidFill>
          <a:ln/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150"/>
          </a:p>
        </p:txBody>
      </p:sp>
      <p:sp>
        <p:nvSpPr>
          <p:cNvPr id="14" name="Shape 12"/>
          <p:cNvSpPr/>
          <p:nvPr/>
        </p:nvSpPr>
        <p:spPr>
          <a:xfrm>
            <a:off x="6062472" y="1005840"/>
            <a:ext cx="2578608" cy="475488"/>
          </a:xfrm>
          <a:prstGeom prst="rect">
            <a:avLst/>
          </a:prstGeom>
          <a:solidFill>
            <a:srgbClr val="5B4A8C"/>
          </a:solidFill>
          <a:ln/>
        </p:spPr>
        <p:txBody>
          <a:bodyPr/>
          <a:lstStyle/>
          <a:p>
            <a:endParaRPr lang="en-150"/>
          </a:p>
        </p:txBody>
      </p:sp>
      <p:sp>
        <p:nvSpPr>
          <p:cNvPr id="15" name="Text 13"/>
          <p:cNvSpPr/>
          <p:nvPr/>
        </p:nvSpPr>
        <p:spPr>
          <a:xfrm>
            <a:off x="6190488" y="106984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List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190488" y="155448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8A9E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/tasks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190488" y="1874520"/>
            <a:ext cx="23774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/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· search · paginate</a:t>
            </a:r>
            <a:endParaRPr lang="en-US" sz="1050" dirty="0"/>
          </a:p>
          <a:p>
            <a:pPr algn="l"/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Bulk: complete / delete / reprioritize</a:t>
            </a:r>
            <a:endParaRPr lang="en-US" sz="1050" dirty="0"/>
          </a:p>
          <a:p>
            <a:pPr algn="l"/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Overdue escalation → auto High priority</a:t>
            </a:r>
            <a:endParaRPr lang="en-US" sz="1050" dirty="0"/>
          </a:p>
          <a:p>
            <a:pPr algn="l"/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 icon on dependency-blocked tasks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20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0"/>
          <p:cNvGraphicFramePr/>
          <p:nvPr/>
        </p:nvGraphicFramePr>
        <p:xfrm>
          <a:off x="4937760" y="804672"/>
          <a:ext cx="3749040" cy="385876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" name="Shape 0"/>
          <p:cNvSpPr/>
          <p:nvPr/>
        </p:nvSpPr>
        <p:spPr>
          <a:xfrm>
            <a:off x="6693408" y="676656"/>
            <a:ext cx="128016" cy="201168"/>
          </a:xfrm>
          <a:prstGeom prst="rect">
            <a:avLst/>
          </a:prstGeom>
          <a:solidFill>
            <a:srgbClr val="F6C90E"/>
          </a:solidFill>
          <a:ln/>
        </p:spPr>
        <p:txBody>
          <a:bodyPr/>
          <a:lstStyle/>
          <a:p>
            <a:endParaRPr lang="en-150"/>
          </a:p>
        </p:txBody>
      </p:sp>
      <p:sp>
        <p:nvSpPr>
          <p:cNvPr id="4" name="Text 1"/>
          <p:cNvSpPr/>
          <p:nvPr/>
        </p:nvSpPr>
        <p:spPr>
          <a:xfrm>
            <a:off x="502920" y="658368"/>
            <a:ext cx="4114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Your Luck</a:t>
            </a:r>
            <a:endParaRPr lang="en-US" sz="3800" dirty="0"/>
          </a:p>
        </p:txBody>
      </p:sp>
      <p:sp>
        <p:nvSpPr>
          <p:cNvPr id="5" name="Text 2"/>
          <p:cNvSpPr/>
          <p:nvPr/>
        </p:nvSpPr>
        <p:spPr>
          <a:xfrm>
            <a:off x="502920" y="1691640"/>
            <a:ext cx="41148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Can't decide what to work on?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the wheel decide.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502920" y="2670048"/>
            <a:ext cx="54864" cy="365760"/>
          </a:xfrm>
          <a:prstGeom prst="rect">
            <a:avLst/>
          </a:prstGeom>
          <a:solidFill>
            <a:srgbClr val="8A9E6E"/>
          </a:solidFill>
          <a:ln/>
        </p:spPr>
        <p:txBody>
          <a:bodyPr/>
          <a:lstStyle/>
          <a:p>
            <a:endParaRPr lang="en-150"/>
          </a:p>
        </p:txBody>
      </p:sp>
      <p:sp>
        <p:nvSpPr>
          <p:cNvPr id="7" name="Text 4"/>
          <p:cNvSpPr/>
          <p:nvPr/>
        </p:nvSpPr>
        <p:spPr>
          <a:xfrm>
            <a:off x="658368" y="2670048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Fetches all active tasks in one API call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02920" y="3218688"/>
            <a:ext cx="54864" cy="365760"/>
          </a:xfrm>
          <a:prstGeom prst="rect">
            <a:avLst/>
          </a:prstGeom>
          <a:solidFill>
            <a:srgbClr val="8A9E6E"/>
          </a:solidFill>
          <a:ln/>
        </p:spPr>
        <p:txBody>
          <a:bodyPr/>
          <a:lstStyle/>
          <a:p>
            <a:endParaRPr lang="en-150"/>
          </a:p>
        </p:txBody>
      </p:sp>
      <p:sp>
        <p:nvSpPr>
          <p:cNvPr id="9" name="Text 6"/>
          <p:cNvSpPr/>
          <p:nvPr/>
        </p:nvSpPr>
        <p:spPr>
          <a:xfrm>
            <a:off x="658368" y="3218688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Canvas animation with easeOutCubic deceleration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502920" y="3767328"/>
            <a:ext cx="54864" cy="365760"/>
          </a:xfrm>
          <a:prstGeom prst="rect">
            <a:avLst/>
          </a:prstGeom>
          <a:solidFill>
            <a:srgbClr val="8A9E6E"/>
          </a:solidFill>
          <a:ln/>
        </p:spPr>
        <p:txBody>
          <a:bodyPr/>
          <a:lstStyle/>
          <a:p>
            <a:endParaRPr lang="en-150"/>
          </a:p>
        </p:txBody>
      </p:sp>
      <p:sp>
        <p:nvSpPr>
          <p:cNvPr id="11" name="Text 8"/>
          <p:cNvSpPr/>
          <p:nvPr/>
        </p:nvSpPr>
        <p:spPr>
          <a:xfrm>
            <a:off x="658368" y="3767328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Winner card navigates directly to the task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502920" y="4315968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F6C9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Spins the wheel. You do the work.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20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-1097280"/>
            <a:ext cx="5029200" cy="5029200"/>
          </a:xfrm>
          <a:prstGeom prst="ellipse">
            <a:avLst/>
          </a:prstGeom>
          <a:solidFill>
            <a:srgbClr val="8A9E6E">
              <a:alpha val="9000"/>
            </a:srgbClr>
          </a:solidFill>
          <a:ln/>
        </p:spPr>
        <p:txBody>
          <a:bodyPr/>
          <a:lstStyle/>
          <a:p>
            <a:endParaRPr lang="en-150"/>
          </a:p>
        </p:txBody>
      </p:sp>
      <p:sp>
        <p:nvSpPr>
          <p:cNvPr id="3" name="Shape 1"/>
          <p:cNvSpPr/>
          <p:nvPr/>
        </p:nvSpPr>
        <p:spPr>
          <a:xfrm>
            <a:off x="6583680" y="2011680"/>
            <a:ext cx="3840480" cy="3840480"/>
          </a:xfrm>
          <a:prstGeom prst="ellipse">
            <a:avLst/>
          </a:prstGeom>
          <a:solidFill>
            <a:srgbClr val="4A6741">
              <a:alpha val="11000"/>
            </a:srgbClr>
          </a:solidFill>
          <a:ln/>
        </p:spPr>
        <p:txBody>
          <a:bodyPr/>
          <a:lstStyle/>
          <a:p>
            <a:endParaRPr lang="en-150"/>
          </a:p>
        </p:txBody>
      </p:sp>
      <p:sp>
        <p:nvSpPr>
          <p:cNvPr id="4" name="Text 2"/>
          <p:cNvSpPr/>
          <p:nvPr/>
        </p:nvSpPr>
        <p:spPr>
          <a:xfrm>
            <a:off x="0" y="1005840"/>
            <a:ext cx="91440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800" b="1" kern="0" spc="1800" dirty="0">
                <a:solidFill>
                  <a:srgbClr val="8A9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12800" dirty="0"/>
          </a:p>
        </p:txBody>
      </p:sp>
      <p:sp>
        <p:nvSpPr>
          <p:cNvPr id="5" name="Text 3"/>
          <p:cNvSpPr/>
          <p:nvPr/>
        </p:nvSpPr>
        <p:spPr>
          <a:xfrm>
            <a:off x="0" y="4315968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00">
                <a:solidFill>
                  <a:srgbClr val="7180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https://planex-website.onrender.com/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413</Words>
  <Application>Microsoft Office PowerPoint</Application>
  <PresentationFormat>On-screen Show (16:9)</PresentationFormat>
  <Paragraphs>100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Planex</dc:title>
  <dc:subject>PptxGenJS Presentation</dc:subject>
  <dc:creator>Razvan Berbecar</dc:creator>
  <cp:lastModifiedBy>RĂZVAN BERBECAR</cp:lastModifiedBy>
  <cp:revision>2</cp:revision>
  <dcterms:created xsi:type="dcterms:W3CDTF">2026-06-12T18:55:06Z</dcterms:created>
  <dcterms:modified xsi:type="dcterms:W3CDTF">2026-06-12T19:04:02Z</dcterms:modified>
</cp:coreProperties>
</file>