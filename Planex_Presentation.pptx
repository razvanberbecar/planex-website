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3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6766560" y="2926080"/>
            <a:ext cx="3657600" cy="3657600"/>
          </a:xfrm>
          <a:prstGeom prst="ellipse">
            <a:avLst/>
          </a:prstGeom>
          <a:solidFill>
            <a:srgbClr val="3A4558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7589520" y="3657600"/>
            <a:ext cx="2194560" cy="2194560"/>
          </a:xfrm>
          <a:prstGeom prst="ellipse">
            <a:avLst/>
          </a:prstGeom>
          <a:solidFill>
            <a:srgbClr val="324157"/>
          </a:solidFill>
          <a:ln w="12700">
            <a:solidFill>
              <a:srgbClr val="32415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Task Management Application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148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 University Project  •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343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41148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4343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196596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4343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352044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4343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507492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4343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662940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Planex?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 is a collaborative, full-stack task management web application. It combines modern frontend engineering, a robust REST API, real-time WebSocket communication, and AI-powered features into a single, production-ready platform.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7373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384048" y="1737360"/>
            <a:ext cx="2633472" cy="4572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512064" y="18013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2286000"/>
            <a:ext cx="2432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1320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tasks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Priorities: High / Medium / Low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To Do / In Progress / Done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&amp; recurrence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&amp; dependencies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on selections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5264" y="17373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55264" y="1737360"/>
            <a:ext cx="2633472" cy="4572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383280" y="18013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432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1320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with 5 roles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collaborators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updates (WebSocket)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group chat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per task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panel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33472" cy="457200"/>
          </a:xfrm>
          <a:prstGeom prst="rect">
            <a:avLst/>
          </a:prstGeom>
          <a:solidFill>
            <a:srgbClr val="5B4A8C"/>
          </a:solidFill>
          <a:ln w="12700">
            <a:solidFill>
              <a:srgbClr val="5B4A8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6254496" y="18013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Smart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2286000"/>
            <a:ext cx="24323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1320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(access + refresh)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token refresh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protection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via email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toxicity filter on chat</a:t>
            </a:r>
            <a:endParaRPr lang="en-US" sz="1050" dirty="0"/>
          </a:p>
          <a:p>
            <a:pPr marL="0" indent="0" algn="l">
              <a:spcAft>
                <a:spcPts val="132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inactivity timeout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1051560"/>
            <a:ext cx="27432" cy="3840480"/>
          </a:xfrm>
          <a:prstGeom prst="rect">
            <a:avLst/>
          </a:prstGeom>
          <a:solidFill>
            <a:srgbClr val="3A4558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612648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concurrent rendering 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612648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build tool &amp; HMR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12648" y="2724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" y="29352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&amp; protected routes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64408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Shape 16"/>
          <p:cNvSpPr/>
          <p:nvPr/>
        </p:nvSpPr>
        <p:spPr>
          <a:xfrm>
            <a:off x="457200" y="3264408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612648" y="3300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Drag-and-Drop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DnD API for Kanban 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612648" y="38770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(client)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subscriptions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416552"/>
            <a:ext cx="397764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Shape 24"/>
          <p:cNvSpPr/>
          <p:nvPr/>
        </p:nvSpPr>
        <p:spPr>
          <a:xfrm>
            <a:off x="457200" y="4416552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612648" y="4453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/ Inline Styles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648" y="4663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olive-green design system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754880" y="1536192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Shape 29"/>
          <p:cNvSpPr/>
          <p:nvPr/>
        </p:nvSpPr>
        <p:spPr>
          <a:xfrm>
            <a:off x="4754880" y="1536192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2" name="Text 30"/>
          <p:cNvSpPr/>
          <p:nvPr/>
        </p:nvSpPr>
        <p:spPr>
          <a:xfrm>
            <a:off x="4910328" y="1572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0328" y="17830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middleware pipeline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12264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4754880" y="2112264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4910328" y="2148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6 + PostgreSQL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10328" y="2359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migrations, seeders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688336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Shape 37"/>
          <p:cNvSpPr/>
          <p:nvPr/>
        </p:nvSpPr>
        <p:spPr>
          <a:xfrm>
            <a:off x="4754880" y="2688336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0" name="Text 38"/>
          <p:cNvSpPr/>
          <p:nvPr/>
        </p:nvSpPr>
        <p:spPr>
          <a:xfrm>
            <a:off x="4910328" y="2724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 library)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10328" y="2935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broadcast to all clients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264408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3" name="Shape 41"/>
          <p:cNvSpPr/>
          <p:nvPr/>
        </p:nvSpPr>
        <p:spPr>
          <a:xfrm>
            <a:off x="4754880" y="3264408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4" name="Text 42"/>
          <p:cNvSpPr/>
          <p:nvPr/>
        </p:nvSpPr>
        <p:spPr>
          <a:xfrm>
            <a:off x="4910328" y="33009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10328" y="3511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+ refresh token auth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840480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7" name="Shape 45"/>
          <p:cNvSpPr/>
          <p:nvPr/>
        </p:nvSpPr>
        <p:spPr>
          <a:xfrm>
            <a:off x="4754880" y="3840480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8" name="Text 46"/>
          <p:cNvSpPr/>
          <p:nvPr/>
        </p:nvSpPr>
        <p:spPr>
          <a:xfrm>
            <a:off x="4910328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10328" y="4087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LLM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416552"/>
            <a:ext cx="3840480" cy="493776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1" name="Shape 49"/>
          <p:cNvSpPr/>
          <p:nvPr/>
        </p:nvSpPr>
        <p:spPr>
          <a:xfrm>
            <a:off x="4754880" y="4416552"/>
            <a:ext cx="45720" cy="493776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2" name="Text 50"/>
          <p:cNvSpPr/>
          <p:nvPr/>
        </p:nvSpPr>
        <p:spPr>
          <a:xfrm>
            <a:off x="4910328" y="4453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/ Brevo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10328" y="4663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transactional email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Roles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Permission-Based Roles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5669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– users, flags, all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3977640" cy="5669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tasks &amp; team members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3977640" cy="56692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118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tasks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3977640" cy="566928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594360" y="3557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85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tasks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78808"/>
            <a:ext cx="3977640" cy="5669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59436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53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task participation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1508760"/>
            <a:ext cx="4114800" cy="566928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Shape 19"/>
          <p:cNvSpPr/>
          <p:nvPr/>
        </p:nvSpPr>
        <p:spPr>
          <a:xfrm>
            <a:off x="4617720" y="1508760"/>
            <a:ext cx="54864" cy="566928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2" name="Text 20"/>
          <p:cNvSpPr/>
          <p:nvPr/>
        </p:nvSpPr>
        <p:spPr>
          <a:xfrm>
            <a:off x="4764024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access token + 7-day refresh token, stored in cookies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176272"/>
            <a:ext cx="4114800" cy="566928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4617720" y="2176272"/>
            <a:ext cx="54864" cy="566928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4764024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4024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tokens auto-refreshed — users never see a login redirect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843784"/>
            <a:ext cx="4114800" cy="566928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4617720" y="2843784"/>
            <a:ext cx="54864" cy="566928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4764024" y="28895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Guard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64024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locked after repeated failed login attempts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511296"/>
            <a:ext cx="4114800" cy="566928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Shape 31"/>
          <p:cNvSpPr/>
          <p:nvPr/>
        </p:nvSpPr>
        <p:spPr>
          <a:xfrm>
            <a:off x="4617720" y="3511296"/>
            <a:ext cx="54864" cy="566928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4764024" y="3557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64024" y="3785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tokenized email link via Brevo/SMTP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4178808"/>
            <a:ext cx="4114800" cy="566928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7" name="Shape 35"/>
          <p:cNvSpPr/>
          <p:nvPr/>
        </p:nvSpPr>
        <p:spPr>
          <a:xfrm>
            <a:off x="4617720" y="4178808"/>
            <a:ext cx="54864" cy="566928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8" name="Text 36"/>
          <p:cNvSpPr/>
          <p:nvPr/>
        </p:nvSpPr>
        <p:spPr>
          <a:xfrm>
            <a:off x="4764024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Timeout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64024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Auto-logout after prolonged inactivity with a warning modal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" y="105156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384048" y="1051560"/>
            <a:ext cx="2633472" cy="4572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512064" y="11155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6002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read / update / delete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due date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status fields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tracked for ownership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05156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Shape 6"/>
          <p:cNvSpPr/>
          <p:nvPr/>
        </p:nvSpPr>
        <p:spPr>
          <a:xfrm>
            <a:off x="3236976" y="1051560"/>
            <a:ext cx="2633472" cy="4572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364992" y="11155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Priority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6002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→ In Progress → Done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priority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escalation: auto High badge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across all 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105156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6089904" y="1051560"/>
            <a:ext cx="2633472" cy="457200"/>
          </a:xfrm>
          <a:prstGeom prst="rect">
            <a:avLst/>
          </a:prstGeom>
          <a:solidFill>
            <a:srgbClr val="5B4A8C"/>
          </a:solidFill>
          <a:ln w="12700">
            <a:solidFill>
              <a:srgbClr val="5B4A8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217920" y="11155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end date configurable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across all calendar dates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in calendar 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92608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384048" y="2926080"/>
            <a:ext cx="2633472" cy="457200"/>
          </a:xfrm>
          <a:prstGeom prst="rect">
            <a:avLst/>
          </a:prstGeom>
          <a:solidFill>
            <a:srgbClr val="B7550A"/>
          </a:solidFill>
          <a:ln w="12700">
            <a:solidFill>
              <a:srgbClr val="B7550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512064" y="29900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&amp;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47472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subtask checklists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completion toggle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button: GROQ generates relevant subtasks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add from suggestions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36976" y="292608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3236976" y="2926080"/>
            <a:ext cx="2633472" cy="457200"/>
          </a:xfrm>
          <a:prstGeom prst="rect">
            <a:avLst/>
          </a:prstGeom>
          <a:solidFill>
            <a:srgbClr val="1A6B8B"/>
          </a:solidFill>
          <a:ln w="12700">
            <a:solidFill>
              <a:srgbClr val="1A6B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3364992" y="29900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347472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blocked by other tasks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complete blocked tasks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dependency prevention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search to add/remove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904" y="2926080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4" name="Shape 22"/>
          <p:cNvSpPr/>
          <p:nvPr/>
        </p:nvSpPr>
        <p:spPr>
          <a:xfrm>
            <a:off x="6089904" y="2926080"/>
            <a:ext cx="2633472" cy="4572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6217920" y="29900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56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with checkboxes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/ Delete / Set priority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action bar UI</a:t>
            </a:r>
            <a:endParaRPr lang="en-US" sz="1050" dirty="0"/>
          </a:p>
          <a:p>
            <a:pPr marL="0" indent="0" algn="l">
              <a:spcAft>
                <a:spcPts val="756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 for safety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 Views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" y="1051560"/>
            <a:ext cx="2633472" cy="361188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384048" y="1051560"/>
            <a:ext cx="64008" cy="361188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  /tasks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• Searchable • Filterable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340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Active / Completed / Collaborative / All</a:t>
            </a:r>
            <a:endParaRPr lang="en-US" sz="1050" dirty="0"/>
          </a:p>
          <a:p>
            <a:pPr marL="0" indent="0" algn="l">
              <a:spcAft>
                <a:spcPts val="234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+ priority sort</a:t>
            </a:r>
            <a:endParaRPr lang="en-US" sz="1050" dirty="0"/>
          </a:p>
          <a:p>
            <a:pPr marL="0" indent="0" algn="l">
              <a:spcAft>
                <a:spcPts val="234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rows tinted red</a:t>
            </a:r>
            <a:endParaRPr lang="en-US" sz="1050" dirty="0"/>
          </a:p>
          <a:p>
            <a:pPr marL="0" indent="0" algn="l">
              <a:spcAft>
                <a:spcPts val="234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Due-soon rows tinted orange</a:t>
            </a:r>
            <a:endParaRPr lang="en-US" sz="1050" dirty="0"/>
          </a:p>
          <a:p>
            <a:pPr marL="0" indent="0" algn="l">
              <a:spcAft>
                <a:spcPts val="234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icon on blocked tasks</a:t>
            </a:r>
            <a:endParaRPr lang="en-US" sz="1050" dirty="0"/>
          </a:p>
          <a:p>
            <a:pPr marL="0" indent="0" algn="l">
              <a:spcAft>
                <a:spcPts val="234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via WebSocket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6976" y="1051560"/>
            <a:ext cx="2633472" cy="361188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36976" y="1051560"/>
            <a:ext cx="64008" cy="361188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01568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 /kanban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5087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• Live sync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1826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columns: To Do / In Progress / Done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HTML5 drag-and-drop API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updates + rollback on error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Done auto-completes task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tasks cannot move to In Progress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badges with overdue escalation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updates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051560"/>
            <a:ext cx="2633472" cy="361188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89904" y="1051560"/>
            <a:ext cx="64008" cy="361188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254496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 /calendar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150876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grid • Priority chips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54496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1826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 grid view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chips color-coded by priority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= red chip, due-soon = orange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date highlighted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Prev/Next navigation + Today button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day for detail panel below</a:t>
            </a:r>
            <a:endParaRPr lang="en-US" sz="1050" dirty="0"/>
          </a:p>
          <a:p>
            <a:pPr marL="0" indent="0" algn="l">
              <a:spcAft>
                <a:spcPts val="182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 rendered across dates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65276" y="1051560"/>
            <a:ext cx="512064" cy="512064"/>
          </a:xfrm>
          <a:prstGeom prst="ellipse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1065276" y="11247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67128" y="1271016"/>
            <a:ext cx="329184" cy="54864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84048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/ delete a task or subtask, or send a chat message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1548" y="1051560"/>
            <a:ext cx="512064" cy="512064"/>
          </a:xfrm>
          <a:prstGeom prst="ellipse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241548" y="11247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271016"/>
            <a:ext cx="329184" cy="54864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Handler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 processes the request and commits to 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17820" y="1051560"/>
            <a:ext cx="512064" cy="512064"/>
          </a:xfrm>
          <a:prstGeom prst="ellipse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5417820" y="11247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1271016"/>
            <a:ext cx="329184" cy="54864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4736592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broadcastTaskEvent() sends the event payload to all WebSocket clients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94092" y="1051560"/>
            <a:ext cx="512064" cy="512064"/>
          </a:xfrm>
          <a:prstGeom prst="ellipse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7594092" y="11247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12864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Views Update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12864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List, Kanban, Calendar and SubtaskPanel update instantly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578608"/>
            <a:ext cx="8366760" cy="27432"/>
          </a:xfrm>
          <a:prstGeom prst="rect">
            <a:avLst/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384048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Panel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84048" y="3182112"/>
            <a:ext cx="2029968" cy="1700784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384048" y="3182112"/>
            <a:ext cx="2029968" cy="4114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493776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a slide-in panel on every page of the app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3182112"/>
            <a:ext cx="2029968" cy="1700784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2532888" y="3182112"/>
            <a:ext cx="2029968" cy="4114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2642616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42616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saved to database and loaded on connect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3182112"/>
            <a:ext cx="2029968" cy="1700784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Shape 31"/>
          <p:cNvSpPr/>
          <p:nvPr/>
        </p:nvSpPr>
        <p:spPr>
          <a:xfrm>
            <a:off x="4681728" y="3182112"/>
            <a:ext cx="2029968" cy="4114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4791456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91456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pushed to all connected users instantly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0568" y="3182112"/>
            <a:ext cx="2029968" cy="1700784"/>
          </a:xfrm>
          <a:prstGeom prst="rect">
            <a:avLst/>
          </a:prstGeom>
          <a:solidFill>
            <a:srgbClr val="F7F9F5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7" name="Shape 35"/>
          <p:cNvSpPr/>
          <p:nvPr/>
        </p:nvSpPr>
        <p:spPr>
          <a:xfrm>
            <a:off x="6830568" y="3182112"/>
            <a:ext cx="2029968" cy="41148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8" name="Text 36"/>
          <p:cNvSpPr/>
          <p:nvPr/>
        </p:nvSpPr>
        <p:spPr>
          <a:xfrm>
            <a:off x="6940296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AI-Moderated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0296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toxicity check before every broadcast (see Slide 8)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35040" y="338328"/>
            <a:ext cx="2743200" cy="384048"/>
          </a:xfrm>
          <a:prstGeom prst="roundRect">
            <a:avLst>
              <a:gd name="adj" fmla="val 42857"/>
            </a:avLst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6035040" y="338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•  llama-3.3-70b-versatile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4114800" cy="352044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64008" cy="352044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Suggestions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 View — on demand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8587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220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'Suggest subtasks' button on any task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title and description sent to GROQ API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list of relevant, actionable subtasks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as clickable chips — one click to add each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planning overhead and improves task breakdown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if GROQ is unavailable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114800" cy="352044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4645152" y="1097280"/>
            <a:ext cx="64008" cy="352044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4809744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Toxicity Filter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9744" y="1554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— every message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856232"/>
            <a:ext cx="38587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220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outgoing chat message sent to GROQ before broadcast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classifies content as safe or toxic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messages dropped — never reach other users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receives a private red warning message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account automatically flagged for admin review</a:t>
            </a:r>
            <a:endParaRPr lang="en-US" sz="1050" dirty="0"/>
          </a:p>
          <a:p>
            <a:pPr marL="0" indent="0" algn="l">
              <a:spcAft>
                <a:spcPts val="222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open: if GROQ is down, messages pass through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Detail: Dependencies &amp; Activity Log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" y="1051560"/>
            <a:ext cx="41148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384048" y="1051560"/>
            <a:ext cx="4114800" cy="4572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530352" y="110642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6459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Blocked-by panel: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 in Task Detail view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search: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tasks by title to add as blockers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chips: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shows its current status &amp; completion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3182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enforcement: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complete a blocked task until all blockers are done — enforced at all 3 backend endpoints (toggle, status, PUT)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prevention: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A→B→A dependency is rejected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sync: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changes broadcast to all views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1148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4809744" y="110642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16459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ActivityLogs table linked to user + resource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21579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tracked: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created, status changed, completion toggled, subtask added/completed/removed, dependency added/removed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9744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UI: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list in Task Detail 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9744" y="3182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avatar: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+ name shown per entry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9744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time: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"3h ago", "2 days ago" format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visible: 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Auto-rendered in view mode below description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to the Admin role  —  route: /admin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4114800" cy="4572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512064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874520"/>
            <a:ext cx="39136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280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registered users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name, email, role, and account status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change any user's role via dropdown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changes take </a:t>
            </a:r>
            <a:r>
              <a:rPr lang="en-US" sz="105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immediately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for large user bases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over all platform activity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2588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4645152" y="1325880"/>
            <a:ext cx="411480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4773168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874520"/>
            <a:ext cx="39136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280"/>
              </a:spcAft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chat — message blocked by AI filter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— too many failed logins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flag type badge + detail snippet + timestamp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 flags" button resets a user's flag status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shown when no flags exist</a:t>
            </a:r>
            <a:endParaRPr lang="en-US" sz="1050" dirty="0"/>
          </a:p>
          <a:p>
            <a:pPr marL="0" indent="0" algn="l">
              <a:spcAft>
                <a:spcPts val="228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investigate and take action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" y="1051560"/>
            <a:ext cx="2633472" cy="356616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384048" y="1051560"/>
            <a:ext cx="64008" cy="356616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  /profile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3774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11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initial + display name + role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name (saves to API immediately)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with full validation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stats: total / completed / active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 with progress bar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 with counts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full Statistics 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051560"/>
            <a:ext cx="2633472" cy="356616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Shape 6"/>
          <p:cNvSpPr/>
          <p:nvPr/>
        </p:nvSpPr>
        <p:spPr>
          <a:xfrm>
            <a:off x="3236976" y="1051560"/>
            <a:ext cx="64008" cy="356616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401568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Escalation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1568" y="1600200"/>
            <a:ext cx="23774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556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past due date display as High priority</a:t>
            </a:r>
            <a:endParaRPr lang="en-US" sz="1050" dirty="0"/>
          </a:p>
          <a:p>
            <a:pPr marL="0" indent="0" algn="l">
              <a:spcAft>
                <a:spcPts val="255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badge with ↑ arrow indicator</a:t>
            </a:r>
            <a:endParaRPr lang="en-US" sz="1050" dirty="0"/>
          </a:p>
          <a:p>
            <a:pPr marL="0" indent="0" algn="l">
              <a:spcAft>
                <a:spcPts val="255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Master List, Kanban, Calendar, Detail</a:t>
            </a:r>
            <a:endParaRPr lang="en-US" sz="1050" dirty="0"/>
          </a:p>
          <a:p>
            <a:pPr marL="0" indent="0" algn="l">
              <a:spcAft>
                <a:spcPts val="255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only — stored priority unchanged in DB</a:t>
            </a:r>
            <a:endParaRPr lang="en-US" sz="1050" dirty="0"/>
          </a:p>
          <a:p>
            <a:pPr marL="0" indent="0" algn="l">
              <a:spcAft>
                <a:spcPts val="255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on render from current date</a:t>
            </a:r>
            <a:endParaRPr lang="en-US" sz="1050" dirty="0"/>
          </a:p>
          <a:p>
            <a:pPr marL="0" indent="0" algn="l">
              <a:spcAft>
                <a:spcPts val="2556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rows/chips tinted red across all 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1051560"/>
            <a:ext cx="2633472" cy="3566160"/>
          </a:xfrm>
          <a:prstGeom prst="rect">
            <a:avLst/>
          </a:prstGeom>
          <a:solidFill>
            <a:srgbClr val="3A4558"/>
          </a:solidFill>
          <a:ln w="12700">
            <a:solidFill>
              <a:srgbClr val="4A5F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6089904" y="1051560"/>
            <a:ext cx="64008" cy="356616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254496" y="1188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View  /statistics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54496" y="1600200"/>
            <a:ext cx="23774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11"/>
              </a:spcAft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completed, active task counts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tasks by priority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tasks by status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 stats for any specific user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percentage calculation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chart visualization</a:t>
            </a:r>
            <a:endParaRPr lang="en-US" sz="1050" dirty="0"/>
          </a:p>
          <a:p>
            <a:pPr marL="0" indent="0" algn="l">
              <a:spcAft>
                <a:spcPts val="2011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Profile page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8A9E6E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6766560" y="2926080"/>
            <a:ext cx="3657600" cy="3657600"/>
          </a:xfrm>
          <a:prstGeom prst="ellipse">
            <a:avLst/>
          </a:prstGeom>
          <a:solidFill>
            <a:srgbClr val="3A4558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7589520" y="3657600"/>
            <a:ext cx="2194560" cy="2194560"/>
          </a:xfrm>
          <a:prstGeom prst="ellipse">
            <a:avLst/>
          </a:prstGeom>
          <a:solidFill>
            <a:srgbClr val="324157"/>
          </a:solidFill>
          <a:ln w="12700">
            <a:solidFill>
              <a:srgbClr val="32415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Routes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22860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Roles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32461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416052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2461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60350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74904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22860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374904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41605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74904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3A4F38"/>
          </a:solidFill>
          <a:ln w="1270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2" name="Text 20"/>
          <p:cNvSpPr/>
          <p:nvPr/>
        </p:nvSpPr>
        <p:spPr>
          <a:xfrm>
            <a:off x="60350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1256</Words>
  <Application>Microsoft Office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Planex – Task Management Application</dc:title>
  <dc:subject>PptxGenJS Presentation</dc:subject>
  <dc:creator>PptxGenJS</dc:creator>
  <cp:lastModifiedBy>RĂZVAN BERBECAR</cp:lastModifiedBy>
  <cp:revision>4</cp:revision>
  <dcterms:created xsi:type="dcterms:W3CDTF">2026-06-12T10:44:02Z</dcterms:created>
  <dcterms:modified xsi:type="dcterms:W3CDTF">2026-06-12T11:53:24Z</dcterms:modified>
</cp:coreProperties>
</file>